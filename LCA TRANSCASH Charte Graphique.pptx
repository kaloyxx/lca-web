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2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103120"/>
            <a:ext cx="6858000" cy="6858000"/>
          </a:xfrm>
          <a:prstGeom prst="ellipse">
            <a:avLst/>
          </a:prstGeom>
          <a:solidFill>
            <a:srgbClr val="1F1D20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669280" cy="5669280"/>
          </a:xfrm>
          <a:prstGeom prst="ellipse">
            <a:avLst/>
          </a:prstGeom>
          <a:solidFill>
            <a:srgbClr val="1F1D20"/>
          </a:solidFill>
          <a:ln/>
        </p:spPr>
      </p:sp>
      <p:pic>
        <p:nvPicPr>
          <p:cNvPr id="4" name="Image 0" descr="assets/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0248" y="1051560"/>
            <a:ext cx="36576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489204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 GRAPHIQUE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0" y="5468112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d'identité visuelle — Transfert d'argent mobile money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8A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72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8A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LCA TRANSCASH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contient ce guide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17320" y="184708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marque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21284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Histoire, mission et valeurs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17320" y="289864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logo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326440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et symbolique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17320" y="395020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de protection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431596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Espaces et tailles minimales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9834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417320" y="500176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Palette de couleurs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536752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Teintes principales et secondaires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8288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086600" y="184708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Typographie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86600" y="221284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Polices et hiérarchie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8803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086600" y="289864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 de la marque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326440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Personnalité et manière de s'exprimer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39319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086600" y="395020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86600" y="431596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 sociaux et supports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49834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086600" y="500176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d'usage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086600" y="536752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et interdictions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72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8A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LCA TRANSCASH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MARQUE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passerelle simple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vos monnaies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6126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LCA TRANSCASH facilite le transfert d'argent entre le Franc CFA et le Franc Guinéen, via les principales solutions de mobile money : Wave, Orange Money, Djamo et PayCard. Depuis un an, nous accompagnons nos clients avec rapidité, transparence et confiance.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279392"/>
            <a:ext cx="73152" cy="365760"/>
          </a:xfrm>
          <a:prstGeom prst="rect">
            <a:avLst/>
          </a:prstGeom>
          <a:solidFill>
            <a:srgbClr val="F2661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206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97480" y="420624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Rendre chaque transfert d'argent rapide, sûr et accessible à tous.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901184"/>
            <a:ext cx="73152" cy="365760"/>
          </a:xfrm>
          <a:prstGeom prst="rect">
            <a:avLst/>
          </a:prstGeom>
          <a:solidFill>
            <a:srgbClr val="F2661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8280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482803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Devenir la référence du transfert mobile money entre nos marchés.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5522976"/>
            <a:ext cx="73152" cy="365760"/>
          </a:xfrm>
          <a:prstGeom prst="rect">
            <a:avLst/>
          </a:prstGeom>
          <a:solidFill>
            <a:srgbClr val="F2661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44982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Promesse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7480" y="5449824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service fiable, transparent, disponible où et quand vous en avez besoin.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0" y="1554480"/>
            <a:ext cx="4114800" cy="4114800"/>
          </a:xfrm>
          <a:prstGeom prst="roundRect">
            <a:avLst>
              <a:gd name="adj" fmla="val 4000"/>
            </a:avLst>
          </a:prstGeom>
          <a:solidFill>
            <a:srgbClr val="322F33"/>
          </a:solidFill>
          <a:ln/>
        </p:spPr>
      </p:sp>
      <p:pic>
        <p:nvPicPr>
          <p:cNvPr id="17" name="Image 0" descr="assets/logo_symb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1168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72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8A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LCA TRANSCASH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logo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212080" cy="4206240"/>
          </a:xfrm>
          <a:prstGeom prst="roundRect">
            <a:avLst>
              <a:gd name="adj" fmla="val 3043"/>
            </a:avLst>
          </a:prstGeom>
          <a:solidFill>
            <a:srgbClr val="322F33"/>
          </a:solidFill>
          <a:ln/>
        </p:spPr>
      </p:sp>
      <p:pic>
        <p:nvPicPr>
          <p:cNvPr id="7" name="Image 0" descr="assets/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148840"/>
            <a:ext cx="3657600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63640" y="1783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63640" y="2386584"/>
            <a:ext cx="109728" cy="109728"/>
          </a:xfrm>
          <a:prstGeom prst="ellipse">
            <a:avLst/>
          </a:prstGeom>
          <a:solidFill>
            <a:srgbClr val="F2661A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22768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sigle « LCA »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537960" y="258775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lettres pleines et arrondies, symbole de solidité et de proximité.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3640" y="3282696"/>
            <a:ext cx="109728" cy="109728"/>
          </a:xfrm>
          <a:prstGeom prst="ellipse">
            <a:avLst/>
          </a:prstGeom>
          <a:solidFill>
            <a:srgbClr val="F2661A"/>
          </a:solidFill>
          <a:ln/>
        </p:spPr>
      </p:sp>
      <p:sp>
        <p:nvSpPr>
          <p:cNvPr id="13" name="Text 10"/>
          <p:cNvSpPr/>
          <p:nvPr/>
        </p:nvSpPr>
        <p:spPr>
          <a:xfrm>
            <a:off x="6537960" y="31729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flèche montante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537960" y="348386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Intégrée au « A », elle exprime la croissance et la rapidité des transferts.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63640" y="4178808"/>
            <a:ext cx="109728" cy="109728"/>
          </a:xfrm>
          <a:prstGeom prst="ellipse">
            <a:avLst/>
          </a:prstGeom>
          <a:solidFill>
            <a:srgbClr val="F2661A"/>
          </a:solidFill>
          <a:ln/>
        </p:spPr>
      </p:sp>
      <p:sp>
        <p:nvSpPr>
          <p:cNvPr id="16" name="Text 13"/>
          <p:cNvSpPr/>
          <p:nvPr/>
        </p:nvSpPr>
        <p:spPr>
          <a:xfrm>
            <a:off x="6537960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L'anneau orbital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37960" y="437997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trajectoire circulaire qui évoque la circulation continue de l'argent.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63640" y="5074920"/>
            <a:ext cx="109728" cy="109728"/>
          </a:xfrm>
          <a:prstGeom prst="ellipse">
            <a:avLst/>
          </a:prstGeom>
          <a:solidFill>
            <a:srgbClr val="F2661A"/>
          </a:solidFill>
          <a:ln/>
        </p:spPr>
      </p:sp>
      <p:sp>
        <p:nvSpPr>
          <p:cNvPr id="19" name="Text 16"/>
          <p:cNvSpPr/>
          <p:nvPr/>
        </p:nvSpPr>
        <p:spPr>
          <a:xfrm>
            <a:off x="653796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dégradé chaleureux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537960" y="52760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l'orange profond à l'or, une signature chromatique unique et énergique.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72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8A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LCA TRANSCASH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de protection &amp; tailles minimales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94960" cy="4023360"/>
          </a:xfrm>
          <a:prstGeom prst="roundRect">
            <a:avLst>
              <a:gd name="adj" fmla="val 3182"/>
            </a:avLst>
          </a:prstGeom>
          <a:solidFill>
            <a:srgbClr val="322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de respiration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2606040"/>
            <a:ext cx="3931920" cy="2926080"/>
          </a:xfrm>
          <a:prstGeom prst="rect">
            <a:avLst/>
          </a:prstGeom>
          <a:ln w="15875">
            <a:solidFill>
              <a:srgbClr val="F2661A"/>
            </a:solidFill>
            <a:prstDash val="solid"/>
          </a:ln>
        </p:spPr>
      </p:sp>
      <p:pic>
        <p:nvPicPr>
          <p:cNvPr id="9" name="Image 0" descr="assets/logo_symb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3337560"/>
            <a:ext cx="2377440" cy="23774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532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texte, icône ou bord de page ne doit entrer dans cet espace minimal autour du logo.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309360" y="1828800"/>
            <a:ext cx="5212080" cy="4023360"/>
          </a:xfrm>
          <a:prstGeom prst="roundRect">
            <a:avLst>
              <a:gd name="adj" fmla="val 3182"/>
            </a:avLst>
          </a:prstGeom>
          <a:solidFill>
            <a:srgbClr val="322F33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2011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Tailles minimales</a:t>
            </a:r>
            <a:endParaRPr lang="en-US" sz="1300" dirty="0"/>
          </a:p>
        </p:txBody>
      </p:sp>
      <p:pic>
        <p:nvPicPr>
          <p:cNvPr id="13" name="Image 1" descr="assets/logo_symb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52360" y="28072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Numérique — 32 px</a:t>
            </a:r>
            <a:endParaRPr lang="en-US" sz="1200" dirty="0"/>
          </a:p>
        </p:txBody>
      </p:sp>
      <p:pic>
        <p:nvPicPr>
          <p:cNvPr id="15" name="Image 2" descr="assets/logo_symb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3429000"/>
            <a:ext cx="777240" cy="7772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0" y="3703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— 15 mm</a:t>
            </a:r>
            <a:endParaRPr lang="en-US" sz="1200" dirty="0"/>
          </a:p>
        </p:txBody>
      </p:sp>
      <p:pic>
        <p:nvPicPr>
          <p:cNvPr id="17" name="Image 3" descr="assets/logo_symbo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434840"/>
            <a:ext cx="1234440" cy="12344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183880" y="4937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Recommandé — usage courant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72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8A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LCA TRANSCASH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VISUELLE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Palette de couleurs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246120" cy="2834640"/>
          </a:xfrm>
          <a:prstGeom prst="roundRect">
            <a:avLst>
              <a:gd name="adj" fmla="val 3871"/>
            </a:avLst>
          </a:prstGeom>
          <a:solidFill>
            <a:srgbClr val="F2661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8862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Signature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2062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#F2661A   ·   RGB 242, 102, 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06240" y="1828800"/>
            <a:ext cx="3246120" cy="2834640"/>
          </a:xfrm>
          <a:prstGeom prst="roundRect">
            <a:avLst>
              <a:gd name="adj" fmla="val 3871"/>
            </a:avLst>
          </a:prstGeom>
          <a:solidFill>
            <a:srgbClr val="FEB428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38862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Chaleureux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42062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#FEB428   ·   RGB 254, 180, 40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72400" y="1828800"/>
            <a:ext cx="3246120" cy="2834640"/>
          </a:xfrm>
          <a:prstGeom prst="roundRect">
            <a:avLst>
              <a:gd name="adj" fmla="val 3871"/>
            </a:avLst>
          </a:prstGeom>
          <a:solidFill>
            <a:srgbClr val="3A363B"/>
          </a:solidFill>
          <a:ln w="15875">
            <a:solidFill>
              <a:srgbClr val="3A36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38862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Noir Anthracite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01000" y="42062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#272528   ·   RGB 39, 37, 40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498348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C94F1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14807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Profond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4864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#C94F12   ·   RGB 201, 79, 18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25112" y="498348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3A36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514807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2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07992" y="54864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   ·   RGB 255, 255, 255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010144" y="498348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B9B6BB"/>
          </a:solidFill>
          <a:ln/>
        </p:spPr>
      </p:sp>
      <p:sp>
        <p:nvSpPr>
          <p:cNvPr id="22" name="Text 20"/>
          <p:cNvSpPr/>
          <p:nvPr/>
        </p:nvSpPr>
        <p:spPr>
          <a:xfrm>
            <a:off x="8193024" y="514807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Gris Perle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93024" y="54864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#B9B6BB   ·   RGB 185, 182, 187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72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8A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LCA TRANSCASH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VISUELLE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Typographie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94960" cy="4023360"/>
          </a:xfrm>
          <a:prstGeom prst="roundRect">
            <a:avLst>
              <a:gd name="adj" fmla="val 3182"/>
            </a:avLst>
          </a:prstGeom>
          <a:solidFill>
            <a:srgbClr val="322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6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— Arial Bold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100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LCA TRANSCASH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47091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Utilisée pour les titres, les montants et les éléments forts de communication.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5212080" cy="4023360"/>
          </a:xfrm>
          <a:prstGeom prst="roundRect">
            <a:avLst>
              <a:gd name="adj" fmla="val 3182"/>
            </a:avLst>
          </a:prstGeom>
          <a:solidFill>
            <a:srgbClr val="322F3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0574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6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courant — Calibri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23317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0000" dirty="0"/>
          </a:p>
        </p:txBody>
      </p:sp>
      <p:sp>
        <p:nvSpPr>
          <p:cNvPr id="14" name="Text 12"/>
          <p:cNvSpPr/>
          <p:nvPr/>
        </p:nvSpPr>
        <p:spPr>
          <a:xfrm>
            <a:off x="6583680" y="41605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ABCDEFGH abcdefgh 0123456789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47091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Utilisée pour les paragraphes, formulaires, notifications et supports imprimés.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72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8A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LCA TRANSCASH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PERSONNALITÉ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ton de la marque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322F33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331720"/>
            <a:ext cx="640080" cy="640080"/>
          </a:xfrm>
          <a:prstGeom prst="ellipse">
            <a:avLst/>
          </a:prstGeom>
          <a:solidFill>
            <a:srgbClr val="F2661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discours honnête et transparent, sans jargon technique.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20440" y="196596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322F33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0480" y="2331720"/>
            <a:ext cx="640080" cy="640080"/>
          </a:xfrm>
          <a:prstGeom prst="ellipse">
            <a:avLst/>
          </a:prstGeom>
          <a:solidFill>
            <a:srgbClr val="F2661A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94760" y="32004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Rapidité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94760" y="361188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messages clairs et directs, à l'image de nos transferts.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0" y="196596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322F33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0840" y="2331720"/>
            <a:ext cx="640080" cy="640080"/>
          </a:xfrm>
          <a:prstGeom prst="ellipse">
            <a:avLst/>
          </a:prstGeom>
          <a:solidFill>
            <a:srgbClr val="F2661A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75120" y="32004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Simplicité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361188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mots accessibles à tous, quel que soit le canal.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281160" y="196596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322F33"/>
          </a:solidFill>
          <a:ln/>
        </p:spPr>
      </p:sp>
      <p:sp>
        <p:nvSpPr>
          <p:cNvPr id="22" name="Shape 20"/>
          <p:cNvSpPr/>
          <p:nvPr/>
        </p:nvSpPr>
        <p:spPr>
          <a:xfrm>
            <a:off x="9601200" y="2331720"/>
            <a:ext cx="640080" cy="640080"/>
          </a:xfrm>
          <a:prstGeom prst="ellipse">
            <a:avLst/>
          </a:prstGeom>
          <a:solidFill>
            <a:srgbClr val="F2661A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555480" y="32004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Proximité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555480" y="361188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ton chaleureux, humain, qui parle à chaque client.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72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8A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LCA TRANSCASH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PRATIQUE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de la marque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291840" cy="4023360"/>
          </a:xfrm>
          <a:prstGeom prst="roundRect">
            <a:avLst>
              <a:gd name="adj" fmla="val 3889"/>
            </a:avLst>
          </a:prstGeom>
          <a:solidFill>
            <a:srgbClr val="322F33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10312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272528"/>
          </a:solidFill>
          <a:ln/>
        </p:spPr>
      </p:sp>
      <p:pic>
        <p:nvPicPr>
          <p:cNvPr id="8" name="Image 0" descr="assets/logo_symb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788920"/>
            <a:ext cx="1371600" cy="1371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5029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 réseaux sociaux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400" y="5349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sombre, symbole centré, contraste maximal.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251960" y="1828800"/>
            <a:ext cx="3566160" cy="4023360"/>
          </a:xfrm>
          <a:prstGeom prst="roundRect">
            <a:avLst>
              <a:gd name="adj" fmla="val 3590"/>
            </a:avLst>
          </a:prstGeom>
          <a:solidFill>
            <a:srgbClr val="322F33"/>
          </a:solidFill>
          <a:ln/>
        </p:spPr>
      </p:sp>
      <p:sp>
        <p:nvSpPr>
          <p:cNvPr id="12" name="Shape 9"/>
          <p:cNvSpPr/>
          <p:nvPr/>
        </p:nvSpPr>
        <p:spPr>
          <a:xfrm>
            <a:off x="4526280" y="2880360"/>
            <a:ext cx="3017520" cy="1874520"/>
          </a:xfrm>
          <a:prstGeom prst="roundRect">
            <a:avLst>
              <a:gd name="adj" fmla="val 3902"/>
            </a:avLst>
          </a:prstGeom>
          <a:solidFill>
            <a:srgbClr val="272528"/>
          </a:solidFill>
          <a:ln/>
        </p:spPr>
      </p:sp>
      <p:pic>
        <p:nvPicPr>
          <p:cNvPr id="13" name="Image 1" descr="assets/logo_symb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3063240"/>
            <a:ext cx="822960" cy="8229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LCA TRANSCASH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62356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mobile money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526280" y="50292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de visite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26280" y="5349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compact, fond neutre, coordonnées lisibles.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229600" y="1828800"/>
            <a:ext cx="3291840" cy="4023360"/>
          </a:xfrm>
          <a:prstGeom prst="roundRect">
            <a:avLst>
              <a:gd name="adj" fmla="val 3889"/>
            </a:avLst>
          </a:prstGeom>
          <a:solidFill>
            <a:srgbClr val="322F33"/>
          </a:solidFill>
          <a:ln/>
        </p:spPr>
      </p:sp>
      <p:sp>
        <p:nvSpPr>
          <p:cNvPr id="19" name="Shape 15"/>
          <p:cNvSpPr/>
          <p:nvPr/>
        </p:nvSpPr>
        <p:spPr>
          <a:xfrm>
            <a:off x="9281160" y="2468880"/>
            <a:ext cx="1188720" cy="1188720"/>
          </a:xfrm>
          <a:prstGeom prst="roundRect">
            <a:avLst>
              <a:gd name="adj" fmla="val 23077"/>
            </a:avLst>
          </a:prstGeom>
          <a:solidFill>
            <a:srgbClr val="272528"/>
          </a:solidFill>
          <a:ln/>
        </p:spPr>
      </p:sp>
      <p:pic>
        <p:nvPicPr>
          <p:cNvPr id="20" name="Image 2" descr="assets/logo_symb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651760"/>
            <a:ext cx="822960" cy="8229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03920" y="5029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Icône application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503920" y="5349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Symbole seul, angles arrondis, sans texte.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72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8A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LCA TRANSCASH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d'usage du logo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94960" cy="4114800"/>
          </a:xfrm>
          <a:prstGeom prst="roundRect">
            <a:avLst>
              <a:gd name="adj" fmla="val 3111"/>
            </a:avLst>
          </a:prstGeom>
          <a:solidFill>
            <a:srgbClr val="322F33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F2661A"/>
          </a:solidFill>
          <a:ln/>
        </p:spPr>
      </p:sp>
      <p:sp>
        <p:nvSpPr>
          <p:cNvPr id="8" name="Shape 6"/>
          <p:cNvSpPr/>
          <p:nvPr/>
        </p:nvSpPr>
        <p:spPr>
          <a:xfrm rot="2700000">
            <a:off x="1051560" y="2313432"/>
            <a:ext cx="137160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 rot="-2700000">
            <a:off x="1133856" y="2176272"/>
            <a:ext cx="246888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21214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faire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6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les fichiers officiels du logo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5387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6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5387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Respecter la zone de protection minimale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419709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6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41970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Placer le logo sur fond sombre uni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485546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6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48554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Conserver les proportions d'origine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1828800"/>
            <a:ext cx="5212080" cy="4114800"/>
          </a:xfrm>
          <a:prstGeom prst="roundRect">
            <a:avLst>
              <a:gd name="adj" fmla="val 3111"/>
            </a:avLst>
          </a:prstGeom>
          <a:solidFill>
            <a:srgbClr val="322F33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2103120"/>
            <a:ext cx="457200" cy="457200"/>
          </a:xfrm>
          <a:prstGeom prst="ellipse">
            <a:avLst/>
          </a:prstGeom>
          <a:solidFill>
            <a:srgbClr val="5A5458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6711696" y="2308860"/>
            <a:ext cx="219456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 rot="-2700000">
            <a:off x="6711696" y="2308860"/>
            <a:ext cx="219456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21214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éviter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28803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Déformer, étirer ou incliner le logo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83680" y="35387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35387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les couleurs ou le dégradé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0" y="419709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0" y="41970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des effets (ombre, contour, 3D)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83680" y="485546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0" y="48554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Placer le logo sur un fond peu contrasté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2026-08-05T09:42:10Z</dcterms:created>
  <dcterms:modified xsi:type="dcterms:W3CDTF">2026-08-05T09:42:10Z</dcterms:modified>
</cp:coreProperties>
</file>